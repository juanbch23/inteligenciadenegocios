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4000" y="190500"/>
            <a:ext cx="11684000" cy="9525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1000" y="285750"/>
            <a:ext cx="698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39" b="1">
                <a:solidFill>
                  <a:srgbClr val="FFFFFF"/>
                </a:solidFill>
                <a:latin typeface="Segoe UI"/>
              </a:rPr>
              <a:t>¿Quiénes compran y cómo?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1000" y="698500"/>
            <a:ext cx="6985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C9D3E0"/>
                </a:solidFill>
                <a:latin typeface="Segoe UI"/>
              </a:rPr>
              <a:t>Dashboard 1 · Clientes · Análisis de clientes · marketing y CRM · mensual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900" y="254000"/>
            <a:ext cx="889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19" b="0">
                <a:solidFill>
                  <a:srgbClr val="C9D3E0"/>
                </a:solidFill>
                <a:latin typeface="Segoe UI"/>
              </a:rPr>
              <a:t>Año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75500" y="406400"/>
            <a:ext cx="889000" cy="2413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51700" y="457200"/>
            <a:ext cx="76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40" b="0">
                <a:solidFill>
                  <a:srgbClr val="1F3A5F"/>
                </a:solidFill>
                <a:latin typeface="Segoe UI"/>
              </a:rPr>
              <a:t>Todas  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53400" y="254000"/>
            <a:ext cx="889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19" b="0">
                <a:solidFill>
                  <a:srgbClr val="C9D3E0"/>
                </a:solidFill>
                <a:latin typeface="Segoe UI"/>
              </a:rPr>
              <a:t>Comparar con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28000" y="406400"/>
            <a:ext cx="889000" cy="2413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4200" y="457200"/>
            <a:ext cx="76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40" b="0">
                <a:solidFill>
                  <a:srgbClr val="1F3A5F"/>
                </a:solidFill>
                <a:latin typeface="Segoe UI"/>
              </a:rPr>
              <a:t>Todas  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05900" y="254000"/>
            <a:ext cx="889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19" b="0">
                <a:solidFill>
                  <a:srgbClr val="C9D3E0"/>
                </a:solidFill>
                <a:latin typeface="Segoe UI"/>
              </a:rPr>
              <a:t>Mes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80500" y="406400"/>
            <a:ext cx="889000" cy="2413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56700" y="457200"/>
            <a:ext cx="76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40" b="0">
                <a:solidFill>
                  <a:srgbClr val="1F3A5F"/>
                </a:solidFill>
                <a:latin typeface="Segoe UI"/>
              </a:rPr>
              <a:t>Todas  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254000"/>
            <a:ext cx="889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19" b="0">
                <a:solidFill>
                  <a:srgbClr val="C9D3E0"/>
                </a:solidFill>
                <a:latin typeface="Segoe UI"/>
              </a:rPr>
              <a:t>Canal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33000" y="406400"/>
            <a:ext cx="889000" cy="2413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109200" y="457200"/>
            <a:ext cx="76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40" b="0">
                <a:solidFill>
                  <a:srgbClr val="1F3A5F"/>
                </a:solidFill>
                <a:latin typeface="Segoe UI"/>
              </a:rPr>
              <a:t>Todas  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10900" y="254000"/>
            <a:ext cx="889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19" b="0">
                <a:solidFill>
                  <a:srgbClr val="C9D3E0"/>
                </a:solidFill>
                <a:latin typeface="Segoe UI"/>
              </a:rPr>
              <a:t>Edad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985500" y="406400"/>
            <a:ext cx="889000" cy="2413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061700" y="457200"/>
            <a:ext cx="76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40" b="0">
                <a:solidFill>
                  <a:srgbClr val="1F3A5F"/>
                </a:solidFill>
                <a:latin typeface="Segoe UI"/>
              </a:rPr>
              <a:t>Todas  ▾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54000" y="1270000"/>
            <a:ext cx="2235200" cy="889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06400" y="1365250"/>
            <a:ext cx="20193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B6573"/>
                </a:solidFill>
                <a:latin typeface="Segoe UI"/>
              </a:rPr>
              <a:t>Clientes que compran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6400" y="1619250"/>
            <a:ext cx="20193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8A94A3"/>
                </a:solidFill>
                <a:latin typeface="Segoe UI"/>
              </a:rPr>
              <a:t>valor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6400" y="1936750"/>
            <a:ext cx="2019300" cy="165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19" b="0">
                <a:solidFill>
                  <a:srgbClr val="8A94A3"/>
                </a:solidFill>
                <a:latin typeface="Segoe UI"/>
              </a:rPr>
              <a:t>vs año de comparación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616200" y="1270000"/>
            <a:ext cx="2235200" cy="889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Block Arc 25"/>
          <p:cNvSpPr/>
          <p:nvPr/>
        </p:nvSpPr>
        <p:spPr>
          <a:xfrm>
            <a:off x="2730500" y="1428750"/>
            <a:ext cx="571500" cy="571500"/>
          </a:xfrm>
          <a:prstGeom prst="blockArc">
            <a:avLst>
              <a:gd name="adj1" fmla="val 10800000"/>
              <a:gd name="adj2" fmla="val 0"/>
              <a:gd name="adj3" fmla="val 25000"/>
            </a:avLst>
          </a:prstGeom>
          <a:solidFill>
            <a:srgbClr val="1E8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29000" y="1365250"/>
            <a:ext cx="13589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B6573"/>
                </a:solidFill>
                <a:latin typeface="Segoe UI"/>
              </a:rPr>
              <a:t>Clientes nuevos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1619250"/>
            <a:ext cx="13589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8A94A3"/>
                </a:solidFill>
                <a:latin typeface="Segoe UI"/>
              </a:rPr>
              <a:t>valor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1936750"/>
            <a:ext cx="1358900" cy="165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19" b="0">
                <a:solidFill>
                  <a:srgbClr val="8A94A3"/>
                </a:solidFill>
                <a:latin typeface="Segoe UI"/>
              </a:rPr>
              <a:t>vs año de comparación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978400" y="1270000"/>
            <a:ext cx="2235200" cy="889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Block Arc 30"/>
          <p:cNvSpPr/>
          <p:nvPr/>
        </p:nvSpPr>
        <p:spPr>
          <a:xfrm>
            <a:off x="5092700" y="1428750"/>
            <a:ext cx="571500" cy="571500"/>
          </a:xfrm>
          <a:prstGeom prst="blockArc">
            <a:avLst>
              <a:gd name="adj1" fmla="val 10800000"/>
              <a:gd name="adj2" fmla="val 0"/>
              <a:gd name="adj3" fmla="val 25000"/>
            </a:avLst>
          </a:prstGeom>
          <a:solidFill>
            <a:srgbClr val="1E8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91200" y="1365250"/>
            <a:ext cx="13589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B6573"/>
                </a:solidFill>
                <a:latin typeface="Segoe UI"/>
              </a:rPr>
              <a:t>Retención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91200" y="1619250"/>
            <a:ext cx="13589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8A94A3"/>
                </a:solidFill>
                <a:latin typeface="Segoe UI"/>
              </a:rPr>
              <a:t>valor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91200" y="1936750"/>
            <a:ext cx="1358900" cy="165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19" b="0">
                <a:solidFill>
                  <a:srgbClr val="8A94A3"/>
                </a:solidFill>
                <a:latin typeface="Segoe UI"/>
              </a:rPr>
              <a:t>vs año de comparación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40600" y="1270000"/>
            <a:ext cx="2235200" cy="889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Block Arc 35"/>
          <p:cNvSpPr/>
          <p:nvPr/>
        </p:nvSpPr>
        <p:spPr>
          <a:xfrm>
            <a:off x="7454900" y="1428750"/>
            <a:ext cx="571500" cy="571500"/>
          </a:xfrm>
          <a:prstGeom prst="blockArc">
            <a:avLst>
              <a:gd name="adj1" fmla="val 10800000"/>
              <a:gd name="adj2" fmla="val 0"/>
              <a:gd name="adj3" fmla="val 25000"/>
            </a:avLst>
          </a:prstGeom>
          <a:solidFill>
            <a:srgbClr val="1E8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53400" y="1365250"/>
            <a:ext cx="13589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B6573"/>
                </a:solidFill>
                <a:latin typeface="Segoe UI"/>
              </a:rPr>
              <a:t>Clientes omnicanal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53400" y="1619250"/>
            <a:ext cx="13589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8A94A3"/>
                </a:solidFill>
                <a:latin typeface="Segoe UI"/>
              </a:rPr>
              <a:t>valor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53400" y="1936750"/>
            <a:ext cx="1358900" cy="165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19" b="0">
                <a:solidFill>
                  <a:srgbClr val="8A94A3"/>
                </a:solidFill>
                <a:latin typeface="Segoe UI"/>
              </a:rPr>
              <a:t>vs año de comparación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702800" y="1270000"/>
            <a:ext cx="2235200" cy="889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Block Arc 40"/>
          <p:cNvSpPr/>
          <p:nvPr/>
        </p:nvSpPr>
        <p:spPr>
          <a:xfrm>
            <a:off x="9817100" y="1428750"/>
            <a:ext cx="571500" cy="571500"/>
          </a:xfrm>
          <a:prstGeom prst="blockArc">
            <a:avLst>
              <a:gd name="adj1" fmla="val 10800000"/>
              <a:gd name="adj2" fmla="val 0"/>
              <a:gd name="adj3" fmla="val 25000"/>
            </a:avLst>
          </a:prstGeom>
          <a:solidFill>
            <a:srgbClr val="1E8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515600" y="1365250"/>
            <a:ext cx="13589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B6573"/>
                </a:solidFill>
                <a:latin typeface="Segoe UI"/>
              </a:rPr>
              <a:t>Penetración club activo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0" y="1619250"/>
            <a:ext cx="13589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8A94A3"/>
                </a:solidFill>
                <a:latin typeface="Segoe UI"/>
              </a:rPr>
              <a:t>valor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0" y="1936750"/>
            <a:ext cx="1358900" cy="165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19" b="0">
                <a:solidFill>
                  <a:srgbClr val="8A94A3"/>
                </a:solidFill>
                <a:latin typeface="Segoe UI"/>
              </a:rPr>
              <a:t>vs año de comparación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54000" y="2286000"/>
            <a:ext cx="2825750" cy="3429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55600" y="2381250"/>
            <a:ext cx="262255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80" b="1">
                <a:solidFill>
                  <a:srgbClr val="1F3A5F"/>
                </a:solidFill>
                <a:latin typeface="Segoe UI"/>
              </a:rPr>
              <a:t>¿Quién genera la venta?</a:t>
            </a:r>
          </a:p>
        </p:txBody>
      </p:sp>
      <p:sp>
        <p:nvSpPr>
          <p:cNvPr id="47" name="Donut 46"/>
          <p:cNvSpPr/>
          <p:nvPr/>
        </p:nvSpPr>
        <p:spPr>
          <a:xfrm>
            <a:off x="701675" y="3035300"/>
            <a:ext cx="1930400" cy="1930400"/>
          </a:xfrm>
          <a:prstGeom prst="donut">
            <a:avLst>
              <a:gd name="adj" fmla="val 20000"/>
            </a:avLst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3206750" y="2286000"/>
            <a:ext cx="2825750" cy="3429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308350" y="2381250"/>
            <a:ext cx="262255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80" b="1">
                <a:solidFill>
                  <a:srgbClr val="1F3A5F"/>
                </a:solidFill>
                <a:latin typeface="Segoe UI"/>
              </a:rPr>
              <a:t>Clientes por rango de edad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397250" y="3879850"/>
            <a:ext cx="254661" cy="132715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804708" y="3276600"/>
            <a:ext cx="254661" cy="1930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212166" y="4121150"/>
            <a:ext cx="254661" cy="108585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619625" y="2914650"/>
            <a:ext cx="254661" cy="229235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027083" y="3638550"/>
            <a:ext cx="254661" cy="156845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434541" y="4362450"/>
            <a:ext cx="254661" cy="84455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6159500" y="2286000"/>
            <a:ext cx="2825750" cy="3429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261100" y="2381250"/>
            <a:ext cx="262255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80" b="1">
                <a:solidFill>
                  <a:srgbClr val="1F3A5F"/>
                </a:solidFill>
                <a:latin typeface="Segoe UI"/>
              </a:rPr>
              <a:t>Venta por cliente según cómo compra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350000" y="3879850"/>
            <a:ext cx="254661" cy="132715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757458" y="3276600"/>
            <a:ext cx="254661" cy="1930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164916" y="4121150"/>
            <a:ext cx="254661" cy="108585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572375" y="2914650"/>
            <a:ext cx="254661" cy="229235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979833" y="3638550"/>
            <a:ext cx="254661" cy="156845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8387291" y="4362450"/>
            <a:ext cx="254661" cy="84455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9112250" y="2286000"/>
            <a:ext cx="2825750" cy="3429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213850" y="2381250"/>
            <a:ext cx="262255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80" b="1">
                <a:solidFill>
                  <a:srgbClr val="1F3A5F"/>
                </a:solidFill>
                <a:latin typeface="Segoe UI"/>
              </a:rPr>
              <a:t>Clientes nuevos por año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302750" y="3879850"/>
            <a:ext cx="254661" cy="132715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9710208" y="3276600"/>
            <a:ext cx="254661" cy="1930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0117666" y="4121150"/>
            <a:ext cx="254661" cy="108585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0525125" y="2914650"/>
            <a:ext cx="254661" cy="229235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0932583" y="3638550"/>
            <a:ext cx="254661" cy="156845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1340041" y="4362450"/>
            <a:ext cx="254661" cy="84455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254000" y="5842000"/>
            <a:ext cx="11684000" cy="749300"/>
          </a:xfrm>
          <a:prstGeom prst="roundRect">
            <a:avLst>
              <a:gd name="adj" fmla="val 4000"/>
            </a:avLst>
          </a:prstGeom>
          <a:solidFill>
            <a:srgbClr val="E8EEF6"/>
          </a:solidFill>
          <a:ln w="9525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81000" y="5905500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80" b="1">
                <a:solidFill>
                  <a:srgbClr val="1F3A5F"/>
                </a:solidFill>
                <a:latin typeface="Segoe UI"/>
              </a:rPr>
              <a:t>Decisiones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81000" y="6159500"/>
            <a:ext cx="2794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F2933"/>
                </a:solidFill>
                <a:latin typeface="Segoe UI"/>
              </a:rPr>
              <a:t>1. Campañas por rango de edad.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270250" y="6159500"/>
            <a:ext cx="2794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F2933"/>
                </a:solidFill>
                <a:latin typeface="Segoe UI"/>
              </a:rPr>
              <a:t>2. Convertir clientes de un canal en omnicanal.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159500" y="6159500"/>
            <a:ext cx="2794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F2933"/>
                </a:solidFill>
                <a:latin typeface="Segoe UI"/>
              </a:rPr>
              <a:t>3. Activar socios del club en la primera compra.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048750" y="6159500"/>
            <a:ext cx="2794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F2933"/>
                </a:solidFill>
                <a:latin typeface="Segoe UI"/>
              </a:rPr>
              <a:t>4. Cuidar al 20 % que concentra la venta.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54000" y="6635750"/>
            <a:ext cx="11684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19" b="0">
                <a:solidFill>
                  <a:srgbClr val="5B6573"/>
                </a:solidFill>
                <a:latin typeface="Segoe UI"/>
              </a:rPr>
              <a:t>Prototipo (wireframe): los valores salen del cubo Tabular_HM al actualizar Power BI.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4000" y="190500"/>
            <a:ext cx="11684000" cy="9525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1000" y="285750"/>
            <a:ext cx="698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39" b="1">
                <a:solidFill>
                  <a:srgbClr val="FFFFFF"/>
                </a:solidFill>
                <a:latin typeface="Segoe UI"/>
              </a:rPr>
              <a:t>¿Qué artículos y secciones mueven la venta?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1000" y="698500"/>
            <a:ext cx="6985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C9D3E0"/>
                </a:solidFill>
                <a:latin typeface="Segoe UI"/>
              </a:rPr>
              <a:t>Dashboard 2 · Artículos · Análisis de artículos · compras, producto y pricing · mensual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900" y="254000"/>
            <a:ext cx="889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19" b="0">
                <a:solidFill>
                  <a:srgbClr val="C9D3E0"/>
                </a:solidFill>
                <a:latin typeface="Segoe UI"/>
              </a:rPr>
              <a:t>Año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75500" y="406400"/>
            <a:ext cx="889000" cy="2413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51700" y="457200"/>
            <a:ext cx="76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40" b="0">
                <a:solidFill>
                  <a:srgbClr val="1F3A5F"/>
                </a:solidFill>
                <a:latin typeface="Segoe UI"/>
              </a:rPr>
              <a:t>Todas  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53400" y="254000"/>
            <a:ext cx="889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19" b="0">
                <a:solidFill>
                  <a:srgbClr val="C9D3E0"/>
                </a:solidFill>
                <a:latin typeface="Segoe UI"/>
              </a:rPr>
              <a:t>Comparar con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28000" y="406400"/>
            <a:ext cx="889000" cy="2413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4200" y="457200"/>
            <a:ext cx="76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40" b="0">
                <a:solidFill>
                  <a:srgbClr val="1F3A5F"/>
                </a:solidFill>
                <a:latin typeface="Segoe UI"/>
              </a:rPr>
              <a:t>Todas  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05900" y="254000"/>
            <a:ext cx="889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19" b="0">
                <a:solidFill>
                  <a:srgbClr val="C9D3E0"/>
                </a:solidFill>
                <a:latin typeface="Segoe UI"/>
              </a:rPr>
              <a:t>Mes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80500" y="406400"/>
            <a:ext cx="889000" cy="2413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56700" y="457200"/>
            <a:ext cx="76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40" b="0">
                <a:solidFill>
                  <a:srgbClr val="1F3A5F"/>
                </a:solidFill>
                <a:latin typeface="Segoe UI"/>
              </a:rPr>
              <a:t>Todas  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254000"/>
            <a:ext cx="889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19" b="0">
                <a:solidFill>
                  <a:srgbClr val="C9D3E0"/>
                </a:solidFill>
                <a:latin typeface="Segoe UI"/>
              </a:rPr>
              <a:t>Canal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33000" y="406400"/>
            <a:ext cx="889000" cy="2413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109200" y="457200"/>
            <a:ext cx="76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40" b="0">
                <a:solidFill>
                  <a:srgbClr val="1F3A5F"/>
                </a:solidFill>
                <a:latin typeface="Segoe UI"/>
              </a:rPr>
              <a:t>Todas  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10900" y="254000"/>
            <a:ext cx="889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19" b="0">
                <a:solidFill>
                  <a:srgbClr val="C9D3E0"/>
                </a:solidFill>
                <a:latin typeface="Segoe UI"/>
              </a:rPr>
              <a:t>Línea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985500" y="406400"/>
            <a:ext cx="889000" cy="2413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061700" y="457200"/>
            <a:ext cx="76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40" b="0">
                <a:solidFill>
                  <a:srgbClr val="1F3A5F"/>
                </a:solidFill>
                <a:latin typeface="Segoe UI"/>
              </a:rPr>
              <a:t>Todas  ▾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54000" y="1270000"/>
            <a:ext cx="2235200" cy="889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06400" y="1365250"/>
            <a:ext cx="20193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B6573"/>
                </a:solidFill>
                <a:latin typeface="Segoe UI"/>
              </a:rPr>
              <a:t>Artículos vendidos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6400" y="1619250"/>
            <a:ext cx="20193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8A94A3"/>
                </a:solidFill>
                <a:latin typeface="Segoe UI"/>
              </a:rPr>
              <a:t>valor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6400" y="1936750"/>
            <a:ext cx="2019300" cy="165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19" b="0">
                <a:solidFill>
                  <a:srgbClr val="8A94A3"/>
                </a:solidFill>
                <a:latin typeface="Segoe UI"/>
              </a:rPr>
              <a:t>vs año de comparación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616200" y="1270000"/>
            <a:ext cx="2235200" cy="889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68600" y="1365250"/>
            <a:ext cx="20193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B6573"/>
                </a:solidFill>
                <a:latin typeface="Segoe UI"/>
              </a:rPr>
              <a:t>Ventas (MM)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68600" y="1619250"/>
            <a:ext cx="20193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8A94A3"/>
                </a:solidFill>
                <a:latin typeface="Segoe UI"/>
              </a:rPr>
              <a:t>valor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68600" y="1936750"/>
            <a:ext cx="2019300" cy="165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19" b="0">
                <a:solidFill>
                  <a:srgbClr val="8A94A3"/>
                </a:solidFill>
                <a:latin typeface="Segoe UI"/>
              </a:rPr>
              <a:t>vs año de comparación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978400" y="1270000"/>
            <a:ext cx="2235200" cy="889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30800" y="1365250"/>
            <a:ext cx="20193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B6573"/>
                </a:solidFill>
                <a:latin typeface="Segoe UI"/>
              </a:rPr>
              <a:t>Artículos por cesta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30800" y="1619250"/>
            <a:ext cx="20193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8A94A3"/>
                </a:solidFill>
                <a:latin typeface="Segoe UI"/>
              </a:rPr>
              <a:t>valor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30800" y="1936750"/>
            <a:ext cx="2019300" cy="165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19" b="0">
                <a:solidFill>
                  <a:srgbClr val="8A94A3"/>
                </a:solidFill>
                <a:latin typeface="Segoe UI"/>
              </a:rPr>
              <a:t>vs año de comparación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40600" y="1270000"/>
            <a:ext cx="2235200" cy="889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93000" y="1365250"/>
            <a:ext cx="20193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B6573"/>
                </a:solidFill>
                <a:latin typeface="Segoe UI"/>
              </a:rPr>
              <a:t>Descuento implícito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93000" y="1619250"/>
            <a:ext cx="20193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8A94A3"/>
                </a:solidFill>
                <a:latin typeface="Segoe UI"/>
              </a:rPr>
              <a:t>valor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3000" y="1936750"/>
            <a:ext cx="2019300" cy="165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19" b="0">
                <a:solidFill>
                  <a:srgbClr val="8A94A3"/>
                </a:solidFill>
                <a:latin typeface="Segoe UI"/>
              </a:rPr>
              <a:t>vs año de comparación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702800" y="1270000"/>
            <a:ext cx="2235200" cy="889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855200" y="1365250"/>
            <a:ext cx="20193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B6573"/>
                </a:solidFill>
                <a:latin typeface="Segoe UI"/>
              </a:rPr>
              <a:t>Líneas con más de 30 % de descuento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55200" y="1619250"/>
            <a:ext cx="20193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8A94A3"/>
                </a:solidFill>
                <a:latin typeface="Segoe UI"/>
              </a:rPr>
              <a:t>valor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55200" y="1936750"/>
            <a:ext cx="2019300" cy="165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19" b="0">
                <a:solidFill>
                  <a:srgbClr val="8A94A3"/>
                </a:solidFill>
                <a:latin typeface="Segoe UI"/>
              </a:rPr>
              <a:t>vs año de comparación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54000" y="2286000"/>
            <a:ext cx="2825750" cy="3429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55600" y="2381250"/>
            <a:ext cx="262255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80" b="1">
                <a:solidFill>
                  <a:srgbClr val="1F3A5F"/>
                </a:solidFill>
                <a:latin typeface="Segoe UI"/>
              </a:rPr>
              <a:t>Venta por línea</a:t>
            </a:r>
          </a:p>
        </p:txBody>
      </p:sp>
      <p:sp>
        <p:nvSpPr>
          <p:cNvPr id="43" name="Donut 42"/>
          <p:cNvSpPr/>
          <p:nvPr/>
        </p:nvSpPr>
        <p:spPr>
          <a:xfrm>
            <a:off x="701675" y="3035300"/>
            <a:ext cx="1930400" cy="1930400"/>
          </a:xfrm>
          <a:prstGeom prst="donut">
            <a:avLst>
              <a:gd name="adj" fmla="val 20000"/>
            </a:avLst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3206750" y="2286000"/>
            <a:ext cx="2825750" cy="3429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308350" y="2381250"/>
            <a:ext cx="262255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80" b="1">
                <a:solidFill>
                  <a:srgbClr val="1F3A5F"/>
                </a:solidFill>
                <a:latin typeface="Segoe UI"/>
              </a:rPr>
              <a:t>Venta por grupo de producto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130675" y="2794000"/>
            <a:ext cx="1579308" cy="206828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397250" y="2819400"/>
            <a:ext cx="611187" cy="120650"/>
          </a:xfrm>
          <a:prstGeom prst="rect">
            <a:avLst/>
          </a:prstGeom>
          <a:solidFill>
            <a:srgbClr val="C9D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130675" y="3138714"/>
            <a:ext cx="1329944" cy="206828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397250" y="3164114"/>
            <a:ext cx="611187" cy="120650"/>
          </a:xfrm>
          <a:prstGeom prst="rect">
            <a:avLst/>
          </a:prstGeom>
          <a:solidFill>
            <a:srgbClr val="C9D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130675" y="3483428"/>
            <a:ext cx="1030706" cy="206828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397250" y="3508828"/>
            <a:ext cx="611187" cy="120650"/>
          </a:xfrm>
          <a:prstGeom prst="rect">
            <a:avLst/>
          </a:prstGeom>
          <a:solidFill>
            <a:srgbClr val="C9D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130675" y="3828142"/>
            <a:ext cx="831215" cy="206828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3397250" y="3853542"/>
            <a:ext cx="611187" cy="120650"/>
          </a:xfrm>
          <a:prstGeom prst="rect">
            <a:avLst/>
          </a:prstGeom>
          <a:solidFill>
            <a:srgbClr val="C9D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130675" y="4172857"/>
            <a:ext cx="631723" cy="206828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397250" y="4198257"/>
            <a:ext cx="611187" cy="120650"/>
          </a:xfrm>
          <a:prstGeom prst="rect">
            <a:avLst/>
          </a:prstGeom>
          <a:solidFill>
            <a:srgbClr val="C9D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130675" y="4517571"/>
            <a:ext cx="415607" cy="206828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3397250" y="4542971"/>
            <a:ext cx="611187" cy="120650"/>
          </a:xfrm>
          <a:prstGeom prst="rect">
            <a:avLst/>
          </a:prstGeom>
          <a:solidFill>
            <a:srgbClr val="C9D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130675" y="4862285"/>
            <a:ext cx="249364" cy="206828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397250" y="4887685"/>
            <a:ext cx="611187" cy="120650"/>
          </a:xfrm>
          <a:prstGeom prst="rect">
            <a:avLst/>
          </a:prstGeom>
          <a:solidFill>
            <a:srgbClr val="C9D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6159500" y="2286000"/>
            <a:ext cx="2825750" cy="3429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261100" y="2381250"/>
            <a:ext cx="262255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80" b="1">
                <a:solidFill>
                  <a:srgbClr val="1F3A5F"/>
                </a:solidFill>
                <a:latin typeface="Segoe UI"/>
              </a:rPr>
              <a:t>Secciones que más venden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083425" y="2794000"/>
            <a:ext cx="1579308" cy="206828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350000" y="2819400"/>
            <a:ext cx="611187" cy="120650"/>
          </a:xfrm>
          <a:prstGeom prst="rect">
            <a:avLst/>
          </a:prstGeom>
          <a:solidFill>
            <a:srgbClr val="C9D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083425" y="3138714"/>
            <a:ext cx="1329944" cy="206828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350000" y="3164114"/>
            <a:ext cx="611187" cy="120650"/>
          </a:xfrm>
          <a:prstGeom prst="rect">
            <a:avLst/>
          </a:prstGeom>
          <a:solidFill>
            <a:srgbClr val="C9D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083425" y="3483428"/>
            <a:ext cx="1030706" cy="206828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350000" y="3508828"/>
            <a:ext cx="611187" cy="120650"/>
          </a:xfrm>
          <a:prstGeom prst="rect">
            <a:avLst/>
          </a:prstGeom>
          <a:solidFill>
            <a:srgbClr val="C9D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7083425" y="3828142"/>
            <a:ext cx="831215" cy="206828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350000" y="3853542"/>
            <a:ext cx="611187" cy="120650"/>
          </a:xfrm>
          <a:prstGeom prst="rect">
            <a:avLst/>
          </a:prstGeom>
          <a:solidFill>
            <a:srgbClr val="C9D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083425" y="4172857"/>
            <a:ext cx="631723" cy="206828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350000" y="4198257"/>
            <a:ext cx="611187" cy="120650"/>
          </a:xfrm>
          <a:prstGeom prst="rect">
            <a:avLst/>
          </a:prstGeom>
          <a:solidFill>
            <a:srgbClr val="C9D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083425" y="4517571"/>
            <a:ext cx="415607" cy="206828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350000" y="4542971"/>
            <a:ext cx="611187" cy="120650"/>
          </a:xfrm>
          <a:prstGeom prst="rect">
            <a:avLst/>
          </a:prstGeom>
          <a:solidFill>
            <a:srgbClr val="C9D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083425" y="4862285"/>
            <a:ext cx="249364" cy="206828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350000" y="4887685"/>
            <a:ext cx="611187" cy="120650"/>
          </a:xfrm>
          <a:prstGeom prst="rect">
            <a:avLst/>
          </a:prstGeom>
          <a:solidFill>
            <a:srgbClr val="C9D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9112250" y="2286000"/>
            <a:ext cx="2825750" cy="3429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213850" y="2381250"/>
            <a:ext cx="262255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80" b="1">
                <a:solidFill>
                  <a:srgbClr val="1F3A5F"/>
                </a:solidFill>
                <a:latin typeface="Segoe UI"/>
              </a:rPr>
              <a:t>Venta por banda de descuento</a:t>
            </a:r>
          </a:p>
        </p:txBody>
      </p:sp>
      <p:sp>
        <p:nvSpPr>
          <p:cNvPr id="78" name="Rectangle 77"/>
          <p:cNvSpPr/>
          <p:nvPr/>
        </p:nvSpPr>
        <p:spPr>
          <a:xfrm>
            <a:off x="9302750" y="3879850"/>
            <a:ext cx="254661" cy="132715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9710208" y="3276600"/>
            <a:ext cx="254661" cy="1930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10117666" y="4121150"/>
            <a:ext cx="254661" cy="108585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10525125" y="2914650"/>
            <a:ext cx="254661" cy="229235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10932583" y="3638550"/>
            <a:ext cx="254661" cy="156845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11340041" y="4362450"/>
            <a:ext cx="254661" cy="84455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ounded Rectangle 83"/>
          <p:cNvSpPr/>
          <p:nvPr/>
        </p:nvSpPr>
        <p:spPr>
          <a:xfrm>
            <a:off x="254000" y="5842000"/>
            <a:ext cx="11684000" cy="749300"/>
          </a:xfrm>
          <a:prstGeom prst="roundRect">
            <a:avLst>
              <a:gd name="adj" fmla="val 4000"/>
            </a:avLst>
          </a:prstGeom>
          <a:solidFill>
            <a:srgbClr val="E8EEF6"/>
          </a:solidFill>
          <a:ln w="9525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81000" y="5905500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80" b="1">
                <a:solidFill>
                  <a:srgbClr val="1F3A5F"/>
                </a:solidFill>
                <a:latin typeface="Segoe UI"/>
              </a:rPr>
              <a:t>Decisiones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81000" y="6159500"/>
            <a:ext cx="2794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F2933"/>
                </a:solidFill>
                <a:latin typeface="Segoe UI"/>
              </a:rPr>
              <a:t>1. Asegurar stock de lo que más vende.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270250" y="6159500"/>
            <a:ext cx="2794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F2933"/>
                </a:solidFill>
                <a:latin typeface="Segoe UI"/>
              </a:rPr>
              <a:t>2. Revisar las secciones con poca venta.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159500" y="6159500"/>
            <a:ext cx="2794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F2933"/>
                </a:solidFill>
                <a:latin typeface="Segoe UI"/>
              </a:rPr>
              <a:t>3. Controlar las rebajas de más de 30 %.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048750" y="6159500"/>
            <a:ext cx="2794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F2933"/>
                </a:solidFill>
                <a:latin typeface="Segoe UI"/>
              </a:rPr>
              <a:t>4. Venta cruzada para subir los artículos por cesta.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54000" y="6635750"/>
            <a:ext cx="11684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19" b="0">
                <a:solidFill>
                  <a:srgbClr val="5B6573"/>
                </a:solidFill>
                <a:latin typeface="Segoe UI"/>
              </a:rPr>
              <a:t>Prototipo (wireframe): los valores salen del cubo Tabular_HM al actualizar Power BI.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4000" y="190500"/>
            <a:ext cx="11684000" cy="9525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1000" y="285750"/>
            <a:ext cx="698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39" b="1">
                <a:solidFill>
                  <a:srgbClr val="FFFFFF"/>
                </a:solidFill>
                <a:latin typeface="Segoe UI"/>
              </a:rPr>
              <a:t>¿Cómo evolucionan las ventas y por qué canal?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1000" y="698500"/>
            <a:ext cx="6985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C9D3E0"/>
                </a:solidFill>
                <a:latin typeface="Segoe UI"/>
              </a:rPr>
              <a:t>Dashboard 3 · Transacciones · Análisis de las transacciones · gerencia comercial y finanzas · mensual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900" y="254000"/>
            <a:ext cx="889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19" b="0">
                <a:solidFill>
                  <a:srgbClr val="C9D3E0"/>
                </a:solidFill>
                <a:latin typeface="Segoe UI"/>
              </a:rPr>
              <a:t>Año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75500" y="406400"/>
            <a:ext cx="889000" cy="2413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51700" y="457200"/>
            <a:ext cx="76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40" b="0">
                <a:solidFill>
                  <a:srgbClr val="1F3A5F"/>
                </a:solidFill>
                <a:latin typeface="Segoe UI"/>
              </a:rPr>
              <a:t>Todas  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53400" y="254000"/>
            <a:ext cx="889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19" b="0">
                <a:solidFill>
                  <a:srgbClr val="C9D3E0"/>
                </a:solidFill>
                <a:latin typeface="Segoe UI"/>
              </a:rPr>
              <a:t>Comparar con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28000" y="406400"/>
            <a:ext cx="889000" cy="2413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4200" y="457200"/>
            <a:ext cx="76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40" b="0">
                <a:solidFill>
                  <a:srgbClr val="1F3A5F"/>
                </a:solidFill>
                <a:latin typeface="Segoe UI"/>
              </a:rPr>
              <a:t>Todas  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05900" y="254000"/>
            <a:ext cx="889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19" b="0">
                <a:solidFill>
                  <a:srgbClr val="C9D3E0"/>
                </a:solidFill>
                <a:latin typeface="Segoe UI"/>
              </a:rPr>
              <a:t>Mes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80500" y="406400"/>
            <a:ext cx="889000" cy="2413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56700" y="457200"/>
            <a:ext cx="76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40" b="0">
                <a:solidFill>
                  <a:srgbClr val="1F3A5F"/>
                </a:solidFill>
                <a:latin typeface="Segoe UI"/>
              </a:rPr>
              <a:t>Todas  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254000"/>
            <a:ext cx="889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19" b="0">
                <a:solidFill>
                  <a:srgbClr val="C9D3E0"/>
                </a:solidFill>
                <a:latin typeface="Segoe UI"/>
              </a:rPr>
              <a:t>Canal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33000" y="406400"/>
            <a:ext cx="889000" cy="2413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109200" y="457200"/>
            <a:ext cx="76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40" b="0">
                <a:solidFill>
                  <a:srgbClr val="1F3A5F"/>
                </a:solidFill>
                <a:latin typeface="Segoe UI"/>
              </a:rPr>
              <a:t>Todas  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10900" y="254000"/>
            <a:ext cx="889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19" b="0">
                <a:solidFill>
                  <a:srgbClr val="C9D3E0"/>
                </a:solidFill>
                <a:latin typeface="Segoe UI"/>
              </a:rPr>
              <a:t>Temporada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985500" y="406400"/>
            <a:ext cx="889000" cy="2413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061700" y="457200"/>
            <a:ext cx="76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40" b="0">
                <a:solidFill>
                  <a:srgbClr val="1F3A5F"/>
                </a:solidFill>
                <a:latin typeface="Segoe UI"/>
              </a:rPr>
              <a:t>Todas  ▾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54000" y="1270000"/>
            <a:ext cx="2235200" cy="889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06400" y="1365250"/>
            <a:ext cx="20193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B6573"/>
                </a:solidFill>
                <a:latin typeface="Segoe UI"/>
              </a:rPr>
              <a:t>Ventas (MM)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6400" y="1619250"/>
            <a:ext cx="20193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8A94A3"/>
                </a:solidFill>
                <a:latin typeface="Segoe UI"/>
              </a:rPr>
              <a:t>valor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6400" y="1936750"/>
            <a:ext cx="2019300" cy="165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19" b="0">
                <a:solidFill>
                  <a:srgbClr val="8A94A3"/>
                </a:solidFill>
                <a:latin typeface="Segoe UI"/>
              </a:rPr>
              <a:t>vs año de comparación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616200" y="1270000"/>
            <a:ext cx="2235200" cy="889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68600" y="1365250"/>
            <a:ext cx="20193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B6573"/>
                </a:solidFill>
                <a:latin typeface="Segoe UI"/>
              </a:rPr>
              <a:t>Líneas de venta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68600" y="1619250"/>
            <a:ext cx="20193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8A94A3"/>
                </a:solidFill>
                <a:latin typeface="Segoe UI"/>
              </a:rPr>
              <a:t>valor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68600" y="1936750"/>
            <a:ext cx="2019300" cy="165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19" b="0">
                <a:solidFill>
                  <a:srgbClr val="8A94A3"/>
                </a:solidFill>
                <a:latin typeface="Segoe UI"/>
              </a:rPr>
              <a:t>vs año de comparación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978400" y="1270000"/>
            <a:ext cx="2235200" cy="889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30800" y="1365250"/>
            <a:ext cx="20193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B6573"/>
                </a:solidFill>
                <a:latin typeface="Segoe UI"/>
              </a:rPr>
              <a:t>Cestas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30800" y="1619250"/>
            <a:ext cx="20193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8A94A3"/>
                </a:solidFill>
                <a:latin typeface="Segoe UI"/>
              </a:rPr>
              <a:t>valor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30800" y="1936750"/>
            <a:ext cx="2019300" cy="165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19" b="0">
                <a:solidFill>
                  <a:srgbClr val="8A94A3"/>
                </a:solidFill>
                <a:latin typeface="Segoe UI"/>
              </a:rPr>
              <a:t>vs año de comparación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40600" y="1270000"/>
            <a:ext cx="2235200" cy="889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93000" y="1365250"/>
            <a:ext cx="20193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B6573"/>
                </a:solidFill>
                <a:latin typeface="Segoe UI"/>
              </a:rPr>
              <a:t>Ticket por cesta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93000" y="1619250"/>
            <a:ext cx="20193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8A94A3"/>
                </a:solidFill>
                <a:latin typeface="Segoe UI"/>
              </a:rPr>
              <a:t>valor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3000" y="1936750"/>
            <a:ext cx="2019300" cy="165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19" b="0">
                <a:solidFill>
                  <a:srgbClr val="8A94A3"/>
                </a:solidFill>
                <a:latin typeface="Segoe UI"/>
              </a:rPr>
              <a:t>vs año de comparación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702800" y="1270000"/>
            <a:ext cx="2235200" cy="889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Block Arc 37"/>
          <p:cNvSpPr/>
          <p:nvPr/>
        </p:nvSpPr>
        <p:spPr>
          <a:xfrm>
            <a:off x="9817100" y="1428750"/>
            <a:ext cx="571500" cy="571500"/>
          </a:xfrm>
          <a:prstGeom prst="blockArc">
            <a:avLst>
              <a:gd name="adj1" fmla="val 10800000"/>
              <a:gd name="adj2" fmla="val 0"/>
              <a:gd name="adj3" fmla="val 25000"/>
            </a:avLst>
          </a:prstGeom>
          <a:solidFill>
            <a:srgbClr val="1E8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0" y="1365250"/>
            <a:ext cx="13589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B6573"/>
                </a:solidFill>
                <a:latin typeface="Segoe UI"/>
              </a:rPr>
              <a:t>Participación online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1619250"/>
            <a:ext cx="13589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8A94A3"/>
                </a:solidFill>
                <a:latin typeface="Segoe UI"/>
              </a:rPr>
              <a:t>valor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1936750"/>
            <a:ext cx="1358900" cy="165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19" b="0">
                <a:solidFill>
                  <a:srgbClr val="8A94A3"/>
                </a:solidFill>
                <a:latin typeface="Segoe UI"/>
              </a:rPr>
              <a:t>vs año de comparación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54000" y="2286000"/>
            <a:ext cx="3810000" cy="3429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55600" y="2381250"/>
            <a:ext cx="36068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80" b="1">
                <a:solidFill>
                  <a:srgbClr val="1F3A5F"/>
                </a:solidFill>
                <a:latin typeface="Segoe UI"/>
              </a:rPr>
              <a:t>Ventas mes a mes</a:t>
            </a:r>
          </a:p>
        </p:txBody>
      </p:sp>
      <p:cxnSp>
        <p:nvCxnSpPr>
          <p:cNvPr id="44" name="Connector 43"/>
          <p:cNvCxnSpPr/>
          <p:nvPr/>
        </p:nvCxnSpPr>
        <p:spPr>
          <a:xfrm flipV="1">
            <a:off x="444500" y="3759200"/>
            <a:ext cx="685800" cy="482600"/>
          </a:xfrm>
          <a:prstGeom prst="line">
            <a:avLst/>
          </a:prstGeom>
          <a:ln w="3810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130300" y="3759200"/>
            <a:ext cx="685800" cy="361950"/>
          </a:xfrm>
          <a:prstGeom prst="line">
            <a:avLst/>
          </a:prstGeom>
          <a:ln w="3810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1816100" y="3517900"/>
            <a:ext cx="685800" cy="603250"/>
          </a:xfrm>
          <a:prstGeom prst="line">
            <a:avLst/>
          </a:prstGeom>
          <a:ln w="3810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2501900" y="3517900"/>
            <a:ext cx="685800" cy="361950"/>
          </a:xfrm>
          <a:prstGeom prst="line">
            <a:avLst/>
          </a:prstGeom>
          <a:ln w="3810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3187700" y="3276600"/>
            <a:ext cx="685800" cy="603250"/>
          </a:xfrm>
          <a:prstGeom prst="line">
            <a:avLst/>
          </a:prstGeom>
          <a:ln w="3810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444500" y="4121150"/>
            <a:ext cx="685800" cy="361950"/>
          </a:xfrm>
          <a:prstGeom prst="line">
            <a:avLst/>
          </a:prstGeom>
          <a:ln w="38100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130300" y="4121150"/>
            <a:ext cx="685800" cy="120650"/>
          </a:xfrm>
          <a:prstGeom prst="line">
            <a:avLst/>
          </a:prstGeom>
          <a:ln w="38100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1816100" y="4000500"/>
            <a:ext cx="685800" cy="241300"/>
          </a:xfrm>
          <a:prstGeom prst="line">
            <a:avLst/>
          </a:prstGeom>
          <a:ln w="38100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2501900" y="4000500"/>
            <a:ext cx="685800" cy="120650"/>
          </a:xfrm>
          <a:prstGeom prst="line">
            <a:avLst/>
          </a:prstGeom>
          <a:ln w="38100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3187700" y="3759200"/>
            <a:ext cx="685800" cy="361950"/>
          </a:xfrm>
          <a:prstGeom prst="line">
            <a:avLst/>
          </a:prstGeom>
          <a:ln w="38100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ounded Rectangle 53"/>
          <p:cNvSpPr/>
          <p:nvPr/>
        </p:nvSpPr>
        <p:spPr>
          <a:xfrm>
            <a:off x="4191000" y="2286000"/>
            <a:ext cx="3810000" cy="3429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292600" y="2381250"/>
            <a:ext cx="36068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80" b="1">
                <a:solidFill>
                  <a:srgbClr val="1F3A5F"/>
                </a:solidFill>
                <a:latin typeface="Segoe UI"/>
              </a:rPr>
              <a:t>Mezcla de canal</a:t>
            </a:r>
          </a:p>
        </p:txBody>
      </p:sp>
      <p:sp>
        <p:nvSpPr>
          <p:cNvPr id="56" name="Donut 55"/>
          <p:cNvSpPr/>
          <p:nvPr/>
        </p:nvSpPr>
        <p:spPr>
          <a:xfrm>
            <a:off x="5130800" y="3035300"/>
            <a:ext cx="1930400" cy="1930400"/>
          </a:xfrm>
          <a:prstGeom prst="donut">
            <a:avLst>
              <a:gd name="adj" fmla="val 20000"/>
            </a:avLst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8128000" y="2286000"/>
            <a:ext cx="3810000" cy="3429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229600" y="2381250"/>
            <a:ext cx="36068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80" b="1">
                <a:solidFill>
                  <a:srgbClr val="1F3A5F"/>
                </a:solidFill>
                <a:latin typeface="Segoe UI"/>
              </a:rPr>
              <a:t>Ventas por día de la semana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318500" y="3879850"/>
            <a:ext cx="357187" cy="132715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8890000" y="3276600"/>
            <a:ext cx="357187" cy="1930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9461500" y="4121150"/>
            <a:ext cx="357187" cy="108585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10033000" y="2914650"/>
            <a:ext cx="357187" cy="229235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10604500" y="3638550"/>
            <a:ext cx="357187" cy="156845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1176000" y="4362450"/>
            <a:ext cx="357187" cy="84455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254000" y="5842000"/>
            <a:ext cx="11684000" cy="749300"/>
          </a:xfrm>
          <a:prstGeom prst="roundRect">
            <a:avLst>
              <a:gd name="adj" fmla="val 4000"/>
            </a:avLst>
          </a:prstGeom>
          <a:solidFill>
            <a:srgbClr val="E8EEF6"/>
          </a:solidFill>
          <a:ln w="9525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81000" y="5905500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80" b="1">
                <a:solidFill>
                  <a:srgbClr val="1F3A5F"/>
                </a:solidFill>
                <a:latin typeface="Segoe UI"/>
              </a:rPr>
              <a:t>Decisiones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81000" y="6159500"/>
            <a:ext cx="2794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F2933"/>
                </a:solidFill>
                <a:latin typeface="Segoe UI"/>
              </a:rPr>
              <a:t>1. Explicar la variación de cada mes.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270250" y="6159500"/>
            <a:ext cx="2794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F2933"/>
                </a:solidFill>
                <a:latin typeface="Segoe UI"/>
              </a:rPr>
              <a:t>2. Reforzar el canal que pierde participación.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159500" y="6159500"/>
            <a:ext cx="2794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F2933"/>
                </a:solidFill>
                <a:latin typeface="Segoe UI"/>
              </a:rPr>
              <a:t>3. Planificar personal y stock por día de la semana.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048750" y="6159500"/>
            <a:ext cx="2794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F2933"/>
                </a:solidFill>
                <a:latin typeface="Segoe UI"/>
              </a:rPr>
              <a:t>4. Seguir el ticket por cesta.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54000" y="6635750"/>
            <a:ext cx="11684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19" b="0">
                <a:solidFill>
                  <a:srgbClr val="5B6573"/>
                </a:solidFill>
                <a:latin typeface="Segoe UI"/>
              </a:rPr>
              <a:t>Prototipo (wireframe): los valores salen del cubo Tabular_HM al actualizar Power BI.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4000" y="190500"/>
            <a:ext cx="11684000" cy="9525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1000" y="285750"/>
            <a:ext cx="698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39" b="1">
                <a:solidFill>
                  <a:srgbClr val="FFFFFF"/>
                </a:solidFill>
                <a:latin typeface="Segoe UI"/>
              </a:rPr>
              <a:t>¿Cómo se comparan las temporadas y los años?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1000" y="698500"/>
            <a:ext cx="6985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C9D3E0"/>
                </a:solidFill>
                <a:latin typeface="Segoe UI"/>
              </a:rPr>
              <a:t>Dashboard 4 · Temporadas y fechas · Análisis comparativo entre temporadas y fechas · gerencia comercial · por temporada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900" y="254000"/>
            <a:ext cx="889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19" b="0">
                <a:solidFill>
                  <a:srgbClr val="C9D3E0"/>
                </a:solidFill>
                <a:latin typeface="Segoe UI"/>
              </a:rPr>
              <a:t>Año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75500" y="406400"/>
            <a:ext cx="889000" cy="2413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51700" y="457200"/>
            <a:ext cx="76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40" b="0">
                <a:solidFill>
                  <a:srgbClr val="1F3A5F"/>
                </a:solidFill>
                <a:latin typeface="Segoe UI"/>
              </a:rPr>
              <a:t>Todas  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53400" y="254000"/>
            <a:ext cx="889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19" b="0">
                <a:solidFill>
                  <a:srgbClr val="C9D3E0"/>
                </a:solidFill>
                <a:latin typeface="Segoe UI"/>
              </a:rPr>
              <a:t>Comparar con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28000" y="406400"/>
            <a:ext cx="889000" cy="2413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4200" y="457200"/>
            <a:ext cx="76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40" b="0">
                <a:solidFill>
                  <a:srgbClr val="1F3A5F"/>
                </a:solidFill>
                <a:latin typeface="Segoe UI"/>
              </a:rPr>
              <a:t>Todas  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05900" y="254000"/>
            <a:ext cx="889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19" b="0">
                <a:solidFill>
                  <a:srgbClr val="C9D3E0"/>
                </a:solidFill>
                <a:latin typeface="Segoe UI"/>
              </a:rPr>
              <a:t>Canal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80500" y="406400"/>
            <a:ext cx="889000" cy="2413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56700" y="457200"/>
            <a:ext cx="76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40" b="0">
                <a:solidFill>
                  <a:srgbClr val="1F3A5F"/>
                </a:solidFill>
                <a:latin typeface="Segoe UI"/>
              </a:rPr>
              <a:t>Todas  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254000"/>
            <a:ext cx="889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19" b="0">
                <a:solidFill>
                  <a:srgbClr val="C9D3E0"/>
                </a:solidFill>
                <a:latin typeface="Segoe UI"/>
              </a:rPr>
              <a:t>Estación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33000" y="406400"/>
            <a:ext cx="889000" cy="2413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109200" y="457200"/>
            <a:ext cx="76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40" b="0">
                <a:solidFill>
                  <a:srgbClr val="1F3A5F"/>
                </a:solidFill>
                <a:latin typeface="Segoe UI"/>
              </a:rPr>
              <a:t>Todas  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10900" y="254000"/>
            <a:ext cx="889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19" b="0">
                <a:solidFill>
                  <a:srgbClr val="C9D3E0"/>
                </a:solidFill>
                <a:latin typeface="Segoe UI"/>
              </a:rPr>
              <a:t>Temporada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985500" y="406400"/>
            <a:ext cx="889000" cy="2413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061700" y="457200"/>
            <a:ext cx="76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40" b="0">
                <a:solidFill>
                  <a:srgbClr val="1F3A5F"/>
                </a:solidFill>
                <a:latin typeface="Segoe UI"/>
              </a:rPr>
              <a:t>Todas  ▾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54000" y="1270000"/>
            <a:ext cx="2235200" cy="889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06400" y="1365250"/>
            <a:ext cx="20193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B6573"/>
                </a:solidFill>
                <a:latin typeface="Segoe UI"/>
              </a:rPr>
              <a:t>Ventas (MM)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6400" y="1619250"/>
            <a:ext cx="20193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8A94A3"/>
                </a:solidFill>
                <a:latin typeface="Segoe UI"/>
              </a:rPr>
              <a:t>valor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6400" y="1936750"/>
            <a:ext cx="2019300" cy="165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19" b="0">
                <a:solidFill>
                  <a:srgbClr val="8A94A3"/>
                </a:solidFill>
                <a:latin typeface="Segoe UI"/>
              </a:rPr>
              <a:t>vs año de comparación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616200" y="1270000"/>
            <a:ext cx="2235200" cy="889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68600" y="1365250"/>
            <a:ext cx="20193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B6573"/>
                </a:solidFill>
                <a:latin typeface="Segoe UI"/>
              </a:rPr>
              <a:t>Mismo periodo del año de comparación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68600" y="1619250"/>
            <a:ext cx="20193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8A94A3"/>
                </a:solidFill>
                <a:latin typeface="Segoe UI"/>
              </a:rPr>
              <a:t>valor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68600" y="1936750"/>
            <a:ext cx="2019300" cy="165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19" b="0">
                <a:solidFill>
                  <a:srgbClr val="8A94A3"/>
                </a:solidFill>
                <a:latin typeface="Segoe UI"/>
              </a:rPr>
              <a:t>vs año de comparación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978400" y="1270000"/>
            <a:ext cx="2235200" cy="889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30800" y="1365250"/>
            <a:ext cx="20193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B6573"/>
                </a:solidFill>
                <a:latin typeface="Segoe UI"/>
              </a:rPr>
              <a:t>Crecimiento interanual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30800" y="1619250"/>
            <a:ext cx="20193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8A94A3"/>
                </a:solidFill>
                <a:latin typeface="Segoe UI"/>
              </a:rPr>
              <a:t>valor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30800" y="1936750"/>
            <a:ext cx="2019300" cy="165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19" b="0">
                <a:solidFill>
                  <a:srgbClr val="8A94A3"/>
                </a:solidFill>
                <a:latin typeface="Segoe UI"/>
              </a:rPr>
              <a:t>vs año de comparación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40600" y="1270000"/>
            <a:ext cx="2235200" cy="889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93000" y="1365250"/>
            <a:ext cx="20193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B6573"/>
                </a:solidFill>
                <a:latin typeface="Segoe UI"/>
              </a:rPr>
              <a:t>Crecimiento en tienda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93000" y="1619250"/>
            <a:ext cx="20193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8A94A3"/>
                </a:solidFill>
                <a:latin typeface="Segoe UI"/>
              </a:rPr>
              <a:t>valor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3000" y="1936750"/>
            <a:ext cx="2019300" cy="165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19" b="0">
                <a:solidFill>
                  <a:srgbClr val="8A94A3"/>
                </a:solidFill>
                <a:latin typeface="Segoe UI"/>
              </a:rPr>
              <a:t>vs año de comparación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702800" y="1270000"/>
            <a:ext cx="2235200" cy="889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855200" y="1365250"/>
            <a:ext cx="20193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B6573"/>
                </a:solidFill>
                <a:latin typeface="Segoe UI"/>
              </a:rPr>
              <a:t>Crecimiento online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55200" y="1619250"/>
            <a:ext cx="20193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8A94A3"/>
                </a:solidFill>
                <a:latin typeface="Segoe UI"/>
              </a:rPr>
              <a:t>valor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55200" y="1936750"/>
            <a:ext cx="2019300" cy="165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19" b="0">
                <a:solidFill>
                  <a:srgbClr val="8A94A3"/>
                </a:solidFill>
                <a:latin typeface="Segoe UI"/>
              </a:rPr>
              <a:t>vs año de comparación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54000" y="2286000"/>
            <a:ext cx="2825750" cy="3429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55600" y="2381250"/>
            <a:ext cx="262255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80" b="1">
                <a:solidFill>
                  <a:srgbClr val="1F3A5F"/>
                </a:solidFill>
                <a:latin typeface="Segoe UI"/>
              </a:rPr>
              <a:t>Ventas de cada año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44500" y="3879850"/>
            <a:ext cx="254661" cy="132715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51958" y="3276600"/>
            <a:ext cx="254661" cy="1930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259416" y="4121150"/>
            <a:ext cx="254661" cy="108585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666875" y="2914650"/>
            <a:ext cx="254661" cy="229235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2074333" y="3638550"/>
            <a:ext cx="254661" cy="156845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2481791" y="4362450"/>
            <a:ext cx="254661" cy="84455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3206750" y="2286000"/>
            <a:ext cx="2825750" cy="3429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308350" y="2381250"/>
            <a:ext cx="262255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80" b="1">
                <a:solidFill>
                  <a:srgbClr val="1F3A5F"/>
                </a:solidFill>
                <a:latin typeface="Segoe UI"/>
              </a:rPr>
              <a:t>Ventas por estación y año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397250" y="4078922"/>
            <a:ext cx="127330" cy="1128077"/>
          </a:xfrm>
          <a:prstGeom prst="rect">
            <a:avLst/>
          </a:prstGeom>
          <a:solidFill>
            <a:srgbClr val="C9D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524580" y="3879850"/>
            <a:ext cx="127330" cy="132715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3804708" y="3566160"/>
            <a:ext cx="127330" cy="1640839"/>
          </a:xfrm>
          <a:prstGeom prst="rect">
            <a:avLst/>
          </a:prstGeom>
          <a:solidFill>
            <a:srgbClr val="C9D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932039" y="3276600"/>
            <a:ext cx="127330" cy="1930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212166" y="4284027"/>
            <a:ext cx="127330" cy="922972"/>
          </a:xfrm>
          <a:prstGeom prst="rect">
            <a:avLst/>
          </a:prstGeom>
          <a:solidFill>
            <a:srgbClr val="C9D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339497" y="4121150"/>
            <a:ext cx="127330" cy="108585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619625" y="3258502"/>
            <a:ext cx="127330" cy="1948497"/>
          </a:xfrm>
          <a:prstGeom prst="rect">
            <a:avLst/>
          </a:prstGeom>
          <a:solidFill>
            <a:srgbClr val="C9D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746955" y="2914650"/>
            <a:ext cx="127330" cy="229235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027083" y="3873817"/>
            <a:ext cx="127330" cy="1333182"/>
          </a:xfrm>
          <a:prstGeom prst="rect">
            <a:avLst/>
          </a:prstGeom>
          <a:solidFill>
            <a:srgbClr val="C9D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154414" y="3638550"/>
            <a:ext cx="127330" cy="156845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434541" y="4489132"/>
            <a:ext cx="127330" cy="717867"/>
          </a:xfrm>
          <a:prstGeom prst="rect">
            <a:avLst/>
          </a:prstGeom>
          <a:solidFill>
            <a:srgbClr val="C9D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561872" y="4362450"/>
            <a:ext cx="127330" cy="84455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6159500" y="2286000"/>
            <a:ext cx="2825750" cy="3429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261100" y="2381250"/>
            <a:ext cx="262255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80" b="1">
                <a:solidFill>
                  <a:srgbClr val="1F3A5F"/>
                </a:solidFill>
                <a:latin typeface="Segoe UI"/>
              </a:rPr>
              <a:t>Ventas por mes y año</a:t>
            </a:r>
          </a:p>
        </p:txBody>
      </p:sp>
      <p:cxnSp>
        <p:nvCxnSpPr>
          <p:cNvPr id="65" name="Connector 64"/>
          <p:cNvCxnSpPr/>
          <p:nvPr/>
        </p:nvCxnSpPr>
        <p:spPr>
          <a:xfrm flipV="1">
            <a:off x="6350000" y="3759200"/>
            <a:ext cx="488950" cy="482600"/>
          </a:xfrm>
          <a:prstGeom prst="line">
            <a:avLst/>
          </a:prstGeom>
          <a:ln w="3810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6838950" y="3759200"/>
            <a:ext cx="488950" cy="361950"/>
          </a:xfrm>
          <a:prstGeom prst="line">
            <a:avLst/>
          </a:prstGeom>
          <a:ln w="3810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7327900" y="3517900"/>
            <a:ext cx="488950" cy="603250"/>
          </a:xfrm>
          <a:prstGeom prst="line">
            <a:avLst/>
          </a:prstGeom>
          <a:ln w="3810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7816850" y="3517900"/>
            <a:ext cx="488950" cy="361950"/>
          </a:xfrm>
          <a:prstGeom prst="line">
            <a:avLst/>
          </a:prstGeom>
          <a:ln w="3810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8305800" y="3276600"/>
            <a:ext cx="488950" cy="603250"/>
          </a:xfrm>
          <a:prstGeom prst="line">
            <a:avLst/>
          </a:prstGeom>
          <a:ln w="3810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350000" y="4121150"/>
            <a:ext cx="488950" cy="361950"/>
          </a:xfrm>
          <a:prstGeom prst="line">
            <a:avLst/>
          </a:prstGeom>
          <a:ln w="38100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6838950" y="4121150"/>
            <a:ext cx="488950" cy="120650"/>
          </a:xfrm>
          <a:prstGeom prst="line">
            <a:avLst/>
          </a:prstGeom>
          <a:ln w="38100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7327900" y="4000500"/>
            <a:ext cx="488950" cy="241300"/>
          </a:xfrm>
          <a:prstGeom prst="line">
            <a:avLst/>
          </a:prstGeom>
          <a:ln w="38100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7816850" y="4000500"/>
            <a:ext cx="488950" cy="120650"/>
          </a:xfrm>
          <a:prstGeom prst="line">
            <a:avLst/>
          </a:prstGeom>
          <a:ln w="38100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8305800" y="3759200"/>
            <a:ext cx="488950" cy="361950"/>
          </a:xfrm>
          <a:prstGeom prst="line">
            <a:avLst/>
          </a:prstGeom>
          <a:ln w="38100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Rounded Rectangle 74"/>
          <p:cNvSpPr/>
          <p:nvPr/>
        </p:nvSpPr>
        <p:spPr>
          <a:xfrm>
            <a:off x="9112250" y="2286000"/>
            <a:ext cx="2825750" cy="3429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213850" y="2381250"/>
            <a:ext cx="262255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80" b="1">
                <a:solidFill>
                  <a:srgbClr val="1F3A5F"/>
                </a:solidFill>
                <a:latin typeface="Segoe UI"/>
              </a:rPr>
              <a:t>Ventas por temporada</a:t>
            </a:r>
          </a:p>
        </p:txBody>
      </p:sp>
      <p:sp>
        <p:nvSpPr>
          <p:cNvPr id="77" name="Rectangle 76"/>
          <p:cNvSpPr/>
          <p:nvPr/>
        </p:nvSpPr>
        <p:spPr>
          <a:xfrm>
            <a:off x="9302750" y="3879850"/>
            <a:ext cx="254661" cy="132715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9710208" y="3276600"/>
            <a:ext cx="254661" cy="1930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10117666" y="4121150"/>
            <a:ext cx="254661" cy="108585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10525125" y="2914650"/>
            <a:ext cx="254661" cy="229235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10932583" y="3638550"/>
            <a:ext cx="254661" cy="156845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11340041" y="4362450"/>
            <a:ext cx="254661" cy="84455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ounded Rectangle 82"/>
          <p:cNvSpPr/>
          <p:nvPr/>
        </p:nvSpPr>
        <p:spPr>
          <a:xfrm>
            <a:off x="254000" y="5842000"/>
            <a:ext cx="11684000" cy="749300"/>
          </a:xfrm>
          <a:prstGeom prst="roundRect">
            <a:avLst>
              <a:gd name="adj" fmla="val 4000"/>
            </a:avLst>
          </a:prstGeom>
          <a:solidFill>
            <a:srgbClr val="E8EEF6"/>
          </a:solidFill>
          <a:ln w="9525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381000" y="5905500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80" b="1">
                <a:solidFill>
                  <a:srgbClr val="1F3A5F"/>
                </a:solidFill>
                <a:latin typeface="Segoe UI"/>
              </a:rPr>
              <a:t>Decisiones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81000" y="6159500"/>
            <a:ext cx="2794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F2933"/>
                </a:solidFill>
                <a:latin typeface="Segoe UI"/>
              </a:rPr>
              <a:t>1. Comparar cada temporada con la misma del año anterior.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270250" y="6159500"/>
            <a:ext cx="2794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F2933"/>
                </a:solidFill>
                <a:latin typeface="Segoe UI"/>
              </a:rPr>
              <a:t>2. Planificar compras según la estación que crece.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159500" y="6159500"/>
            <a:ext cx="2794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F2933"/>
                </a:solidFill>
                <a:latin typeface="Segoe UI"/>
              </a:rPr>
              <a:t>3. Revisar los meses que caen.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048750" y="6159500"/>
            <a:ext cx="2794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F2933"/>
                </a:solidFill>
                <a:latin typeface="Segoe UI"/>
              </a:rPr>
              <a:t>4. Separar el efecto de canal en cada temporada.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54000" y="6635750"/>
            <a:ext cx="11684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19" b="0">
                <a:solidFill>
                  <a:srgbClr val="5B6573"/>
                </a:solidFill>
                <a:latin typeface="Segoe UI"/>
              </a:rPr>
              <a:t>Prototipo (wireframe): los valores salen del cubo Tabular_HM al actualizar Power BI.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4000" y="190500"/>
            <a:ext cx="11684000" cy="9525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1000" y="285750"/>
            <a:ext cx="698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39" b="1">
                <a:solidFill>
                  <a:srgbClr val="FFFFFF"/>
                </a:solidFill>
                <a:latin typeface="Segoe UI"/>
              </a:rPr>
              <a:t>¿Qué temporadas y secciones están fuera de meta?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1000" y="698500"/>
            <a:ext cx="6985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C9D3E0"/>
                </a:solidFill>
                <a:latin typeface="Segoe UI"/>
              </a:rPr>
              <a:t>Dashboard 5 · Metas por temporada y fechas · Análisis con las metas por temporada y fechas · jefes de sección y de temporada · por temporada y 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900" y="254000"/>
            <a:ext cx="889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19" b="0">
                <a:solidFill>
                  <a:srgbClr val="C9D3E0"/>
                </a:solidFill>
                <a:latin typeface="Segoe UI"/>
              </a:rPr>
              <a:t>Escenario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75500" y="406400"/>
            <a:ext cx="889000" cy="2413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51700" y="457200"/>
            <a:ext cx="76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40" b="0">
                <a:solidFill>
                  <a:srgbClr val="1F3A5F"/>
                </a:solidFill>
                <a:latin typeface="Segoe UI"/>
              </a:rPr>
              <a:t>Todas  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53400" y="254000"/>
            <a:ext cx="889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19" b="0">
                <a:solidFill>
                  <a:srgbClr val="C9D3E0"/>
                </a:solidFill>
                <a:latin typeface="Segoe UI"/>
              </a:rPr>
              <a:t>Año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28000" y="406400"/>
            <a:ext cx="889000" cy="2413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4200" y="457200"/>
            <a:ext cx="76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40" b="0">
                <a:solidFill>
                  <a:srgbClr val="1F3A5F"/>
                </a:solidFill>
                <a:latin typeface="Segoe UI"/>
              </a:rPr>
              <a:t>Todas  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05900" y="254000"/>
            <a:ext cx="889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19" b="0">
                <a:solidFill>
                  <a:srgbClr val="C9D3E0"/>
                </a:solidFill>
                <a:latin typeface="Segoe UI"/>
              </a:rPr>
              <a:t>Mes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80500" y="406400"/>
            <a:ext cx="889000" cy="2413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56700" y="457200"/>
            <a:ext cx="76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40" b="0">
                <a:solidFill>
                  <a:srgbClr val="1F3A5F"/>
                </a:solidFill>
                <a:latin typeface="Segoe UI"/>
              </a:rPr>
              <a:t>Todas  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254000"/>
            <a:ext cx="889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19" b="0">
                <a:solidFill>
                  <a:srgbClr val="C9D3E0"/>
                </a:solidFill>
                <a:latin typeface="Segoe UI"/>
              </a:rPr>
              <a:t>Temporada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33000" y="406400"/>
            <a:ext cx="889000" cy="2413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109200" y="457200"/>
            <a:ext cx="76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40" b="0">
                <a:solidFill>
                  <a:srgbClr val="1F3A5F"/>
                </a:solidFill>
                <a:latin typeface="Segoe UI"/>
              </a:rPr>
              <a:t>Todas  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10900" y="254000"/>
            <a:ext cx="889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19" b="0">
                <a:solidFill>
                  <a:srgbClr val="C9D3E0"/>
                </a:solidFill>
                <a:latin typeface="Segoe UI"/>
              </a:rPr>
              <a:t>Sección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985500" y="406400"/>
            <a:ext cx="889000" cy="2413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061700" y="457200"/>
            <a:ext cx="76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40" b="0">
                <a:solidFill>
                  <a:srgbClr val="1F3A5F"/>
                </a:solidFill>
                <a:latin typeface="Segoe UI"/>
              </a:rPr>
              <a:t>Todas  ▾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54000" y="1270000"/>
            <a:ext cx="2825750" cy="889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Block Arc 21"/>
          <p:cNvSpPr/>
          <p:nvPr/>
        </p:nvSpPr>
        <p:spPr>
          <a:xfrm>
            <a:off x="368300" y="1428750"/>
            <a:ext cx="571500" cy="571500"/>
          </a:xfrm>
          <a:prstGeom prst="blockArc">
            <a:avLst>
              <a:gd name="adj1" fmla="val 10800000"/>
              <a:gd name="adj2" fmla="val 0"/>
              <a:gd name="adj3" fmla="val 25000"/>
            </a:avLst>
          </a:prstGeom>
          <a:solidFill>
            <a:srgbClr val="1E8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66800" y="1365250"/>
            <a:ext cx="19494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B6573"/>
                </a:solidFill>
                <a:latin typeface="Segoe UI"/>
              </a:rPr>
              <a:t>Cumplimiento de meta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6800" y="1619250"/>
            <a:ext cx="194945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8A94A3"/>
                </a:solidFill>
                <a:latin typeface="Segoe UI"/>
              </a:rPr>
              <a:t>valor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6800" y="1936750"/>
            <a:ext cx="1949450" cy="165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19" b="0">
                <a:solidFill>
                  <a:srgbClr val="8A94A3"/>
                </a:solidFill>
                <a:latin typeface="Segoe UI"/>
              </a:rPr>
              <a:t>vs año de comparación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06750" y="1270000"/>
            <a:ext cx="2825750" cy="889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Block Arc 26"/>
          <p:cNvSpPr/>
          <p:nvPr/>
        </p:nvSpPr>
        <p:spPr>
          <a:xfrm>
            <a:off x="3321050" y="1428750"/>
            <a:ext cx="571500" cy="571500"/>
          </a:xfrm>
          <a:prstGeom prst="blockArc">
            <a:avLst>
              <a:gd name="adj1" fmla="val 10800000"/>
              <a:gd name="adj2" fmla="val 0"/>
              <a:gd name="adj3" fmla="val 25000"/>
            </a:avLst>
          </a:prstGeom>
          <a:solidFill>
            <a:srgbClr val="1E8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019550" y="1365250"/>
            <a:ext cx="19494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B6573"/>
                </a:solidFill>
                <a:latin typeface="Segoe UI"/>
              </a:rPr>
              <a:t>Peor temporada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19550" y="1619250"/>
            <a:ext cx="194945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8A94A3"/>
                </a:solidFill>
                <a:latin typeface="Segoe UI"/>
              </a:rPr>
              <a:t>valor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19550" y="1936750"/>
            <a:ext cx="1949450" cy="165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19" b="0">
                <a:solidFill>
                  <a:srgbClr val="8A94A3"/>
                </a:solidFill>
                <a:latin typeface="Segoe UI"/>
              </a:rPr>
              <a:t>vs año de comparación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59500" y="1270000"/>
            <a:ext cx="2825750" cy="889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Block Arc 31"/>
          <p:cNvSpPr/>
          <p:nvPr/>
        </p:nvSpPr>
        <p:spPr>
          <a:xfrm>
            <a:off x="6273800" y="1428750"/>
            <a:ext cx="571500" cy="571500"/>
          </a:xfrm>
          <a:prstGeom prst="blockArc">
            <a:avLst>
              <a:gd name="adj1" fmla="val 10800000"/>
              <a:gd name="adj2" fmla="val 0"/>
              <a:gd name="adj3" fmla="val 25000"/>
            </a:avLst>
          </a:prstGeom>
          <a:solidFill>
            <a:srgbClr val="1E8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72300" y="1365250"/>
            <a:ext cx="19494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B6573"/>
                </a:solidFill>
                <a:latin typeface="Segoe UI"/>
              </a:rPr>
              <a:t>Secciones que cumplen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72300" y="1619250"/>
            <a:ext cx="194945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8A94A3"/>
                </a:solidFill>
                <a:latin typeface="Segoe UI"/>
              </a:rPr>
              <a:t>valor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72300" y="1936750"/>
            <a:ext cx="1949450" cy="165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19" b="0">
                <a:solidFill>
                  <a:srgbClr val="8A94A3"/>
                </a:solidFill>
                <a:latin typeface="Segoe UI"/>
              </a:rPr>
              <a:t>vs año de comparación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12250" y="1270000"/>
            <a:ext cx="2825750" cy="889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Block Arc 36"/>
          <p:cNvSpPr/>
          <p:nvPr/>
        </p:nvSpPr>
        <p:spPr>
          <a:xfrm>
            <a:off x="9226550" y="1428750"/>
            <a:ext cx="571500" cy="571500"/>
          </a:xfrm>
          <a:prstGeom prst="blockArc">
            <a:avLst>
              <a:gd name="adj1" fmla="val 10800000"/>
              <a:gd name="adj2" fmla="val 0"/>
              <a:gd name="adj3" fmla="val 25000"/>
            </a:avLst>
          </a:prstGeom>
          <a:solidFill>
            <a:srgbClr val="1E8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925050" y="1365250"/>
            <a:ext cx="19494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B6573"/>
                </a:solidFill>
                <a:latin typeface="Segoe UI"/>
              </a:rPr>
              <a:t>Secciones bajo 50 %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25050" y="1619250"/>
            <a:ext cx="194945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8A94A3"/>
                </a:solidFill>
                <a:latin typeface="Segoe UI"/>
              </a:rPr>
              <a:t>valor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925050" y="1936750"/>
            <a:ext cx="1949450" cy="165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19" b="0">
                <a:solidFill>
                  <a:srgbClr val="8A94A3"/>
                </a:solidFill>
                <a:latin typeface="Segoe UI"/>
              </a:rPr>
              <a:t>vs año de comparación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54000" y="2286000"/>
            <a:ext cx="2825750" cy="3429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55600" y="2381250"/>
            <a:ext cx="262255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80" b="1">
                <a:solidFill>
                  <a:srgbClr val="1F3A5F"/>
                </a:solidFill>
                <a:latin typeface="Segoe UI"/>
              </a:rPr>
              <a:t>Velocímetro de meta</a:t>
            </a:r>
          </a:p>
        </p:txBody>
      </p:sp>
      <p:sp>
        <p:nvSpPr>
          <p:cNvPr id="43" name="Block Arc 42"/>
          <p:cNvSpPr/>
          <p:nvPr/>
        </p:nvSpPr>
        <p:spPr>
          <a:xfrm>
            <a:off x="688975" y="2857500"/>
            <a:ext cx="1955800" cy="1955800"/>
          </a:xfrm>
          <a:prstGeom prst="blockArc">
            <a:avLst>
              <a:gd name="adj1" fmla="val 10800000"/>
              <a:gd name="adj2" fmla="val 0"/>
              <a:gd name="adj3" fmla="val 25000"/>
            </a:avLst>
          </a:prstGeom>
          <a:solidFill>
            <a:srgbClr val="1E8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3206750" y="2286000"/>
            <a:ext cx="2825750" cy="3429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308350" y="2381250"/>
            <a:ext cx="262255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80" b="1">
                <a:solidFill>
                  <a:srgbClr val="1F3A5F"/>
                </a:solidFill>
                <a:latin typeface="Segoe UI"/>
              </a:rPr>
              <a:t>Cumplimiento por temporada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397250" y="3879850"/>
            <a:ext cx="254661" cy="132715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804708" y="3276600"/>
            <a:ext cx="254661" cy="1930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212166" y="4121150"/>
            <a:ext cx="254661" cy="108585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619625" y="2914650"/>
            <a:ext cx="254661" cy="229235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027083" y="3638550"/>
            <a:ext cx="254661" cy="156845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434541" y="4362450"/>
            <a:ext cx="254661" cy="84455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6159500" y="2286000"/>
            <a:ext cx="2825750" cy="3429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261100" y="2381250"/>
            <a:ext cx="262255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80" b="1">
                <a:solidFill>
                  <a:srgbClr val="1F3A5F"/>
                </a:solidFill>
                <a:latin typeface="Segoe UI"/>
              </a:rPr>
              <a:t>Cumplimiento por mes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350000" y="3879850"/>
            <a:ext cx="254661" cy="132715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757458" y="3276600"/>
            <a:ext cx="254661" cy="1930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164916" y="4121150"/>
            <a:ext cx="254661" cy="108585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572375" y="2914650"/>
            <a:ext cx="254661" cy="229235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979833" y="3638550"/>
            <a:ext cx="254661" cy="156845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8387291" y="4362450"/>
            <a:ext cx="254661" cy="84455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9112250" y="2286000"/>
            <a:ext cx="2825750" cy="3429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213850" y="2381250"/>
            <a:ext cx="262255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80" b="1">
                <a:solidFill>
                  <a:srgbClr val="1F3A5F"/>
                </a:solidFill>
                <a:latin typeface="Segoe UI"/>
              </a:rPr>
              <a:t>Extremos de cumplimiento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0036175" y="2794000"/>
            <a:ext cx="1579308" cy="206828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9302750" y="2819400"/>
            <a:ext cx="611187" cy="120650"/>
          </a:xfrm>
          <a:prstGeom prst="rect">
            <a:avLst/>
          </a:prstGeom>
          <a:solidFill>
            <a:srgbClr val="C9D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0036175" y="3138714"/>
            <a:ext cx="1329944" cy="206828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9302750" y="3164114"/>
            <a:ext cx="611187" cy="120650"/>
          </a:xfrm>
          <a:prstGeom prst="rect">
            <a:avLst/>
          </a:prstGeom>
          <a:solidFill>
            <a:srgbClr val="C9D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0036175" y="3483428"/>
            <a:ext cx="1030706" cy="206828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9302750" y="3508828"/>
            <a:ext cx="611187" cy="120650"/>
          </a:xfrm>
          <a:prstGeom prst="rect">
            <a:avLst/>
          </a:prstGeom>
          <a:solidFill>
            <a:srgbClr val="C9D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0036175" y="3828142"/>
            <a:ext cx="831215" cy="206828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9302750" y="3853542"/>
            <a:ext cx="611187" cy="120650"/>
          </a:xfrm>
          <a:prstGeom prst="rect">
            <a:avLst/>
          </a:prstGeom>
          <a:solidFill>
            <a:srgbClr val="C9D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0036175" y="4172857"/>
            <a:ext cx="631723" cy="206828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9302750" y="4198257"/>
            <a:ext cx="611187" cy="120650"/>
          </a:xfrm>
          <a:prstGeom prst="rect">
            <a:avLst/>
          </a:prstGeom>
          <a:solidFill>
            <a:srgbClr val="C9D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0036175" y="4517571"/>
            <a:ext cx="415607" cy="206828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9302750" y="4542971"/>
            <a:ext cx="611187" cy="120650"/>
          </a:xfrm>
          <a:prstGeom prst="rect">
            <a:avLst/>
          </a:prstGeom>
          <a:solidFill>
            <a:srgbClr val="C9D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0036175" y="4862285"/>
            <a:ext cx="249364" cy="206828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9302750" y="4887685"/>
            <a:ext cx="611187" cy="120650"/>
          </a:xfrm>
          <a:prstGeom prst="rect">
            <a:avLst/>
          </a:prstGeom>
          <a:solidFill>
            <a:srgbClr val="C9D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254000" y="5842000"/>
            <a:ext cx="11684000" cy="749300"/>
          </a:xfrm>
          <a:prstGeom prst="roundRect">
            <a:avLst>
              <a:gd name="adj" fmla="val 4000"/>
            </a:avLst>
          </a:prstGeom>
          <a:solidFill>
            <a:srgbClr val="E8EEF6"/>
          </a:solidFill>
          <a:ln w="9525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81000" y="5905500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80" b="1">
                <a:solidFill>
                  <a:srgbClr val="1F3A5F"/>
                </a:solidFill>
                <a:latin typeface="Segoe UI"/>
              </a:rPr>
              <a:t>Decisiones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81000" y="6159500"/>
            <a:ext cx="2794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F2933"/>
                </a:solidFill>
                <a:latin typeface="Segoe UI"/>
              </a:rPr>
              <a:t>1. Validar la escala y el periodo de la meta.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270250" y="6159500"/>
            <a:ext cx="2794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F2933"/>
                </a:solidFill>
                <a:latin typeface="Segoe UI"/>
              </a:rPr>
              <a:t>2. Seguimiento mensual de venta vs meta.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159500" y="6159500"/>
            <a:ext cx="2794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F2933"/>
                </a:solidFill>
                <a:latin typeface="Segoe UI"/>
              </a:rPr>
              <a:t>3. Plan para la temporada más lejos de la meta.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048750" y="6159500"/>
            <a:ext cx="2794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F2933"/>
                </a:solidFill>
                <a:latin typeface="Segoe UI"/>
              </a:rPr>
              <a:t>4. Revisar las secciones bajo 50 %.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54000" y="6635750"/>
            <a:ext cx="11684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19" b="0">
                <a:solidFill>
                  <a:srgbClr val="5B6573"/>
                </a:solidFill>
                <a:latin typeface="Segoe UI"/>
              </a:rPr>
              <a:t>Prototipo (wireframe): los valores salen del cubo Tabular_HM al actualizar Power BI.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